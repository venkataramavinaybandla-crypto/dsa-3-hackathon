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188720"/>
            <a:ext cx="1463040" cy="5486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V="1">
            <a:off x="8869680" y="1188720"/>
            <a:ext cx="822960" cy="128016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10607040" y="1737360"/>
            <a:ext cx="548640" cy="14630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869680" y="2468880"/>
            <a:ext cx="457200" cy="164592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607040" y="3200400"/>
            <a:ext cx="731520" cy="128016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 flipV="1">
            <a:off x="8686800" y="4114800"/>
            <a:ext cx="640080" cy="10058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 flipV="1">
            <a:off x="9326880" y="3200400"/>
            <a:ext cx="1280160" cy="91440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546336" y="1042416"/>
            <a:ext cx="292608" cy="292608"/>
          </a:xfrm>
          <a:prstGeom prst="ellipse">
            <a:avLst/>
          </a:prstGeom>
          <a:solidFill>
            <a:srgbClr val="232323"/>
          </a:solidFill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009376" y="1591056"/>
            <a:ext cx="292608" cy="292608"/>
          </a:xfrm>
          <a:prstGeom prst="ellipse">
            <a:avLst/>
          </a:prstGeom>
          <a:solidFill>
            <a:srgbClr val="232323"/>
          </a:solidFill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723376" y="2322576"/>
            <a:ext cx="292608" cy="292608"/>
          </a:xfrm>
          <a:prstGeom prst="ellipse">
            <a:avLst/>
          </a:prstGeom>
          <a:solidFill>
            <a:srgbClr val="232323"/>
          </a:solidFill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0460736" y="3054096"/>
            <a:ext cx="292608" cy="292608"/>
          </a:xfrm>
          <a:prstGeom prst="ellipse">
            <a:avLst/>
          </a:prstGeom>
          <a:solidFill>
            <a:srgbClr val="FF6A1A"/>
          </a:solidFill>
          <a:ln w="19050">
            <a:solidFill>
              <a:srgbClr val="FF6A1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180576" y="3968496"/>
            <a:ext cx="292608" cy="292608"/>
          </a:xfrm>
          <a:prstGeom prst="ellipse">
            <a:avLst/>
          </a:prstGeom>
          <a:solidFill>
            <a:srgbClr val="232323"/>
          </a:solidFill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1192256" y="4334256"/>
            <a:ext cx="292608" cy="292608"/>
          </a:xfrm>
          <a:prstGeom prst="ellipse">
            <a:avLst/>
          </a:prstGeom>
          <a:solidFill>
            <a:srgbClr val="232323"/>
          </a:solidFill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540496" y="4974336"/>
            <a:ext cx="292608" cy="292608"/>
          </a:xfrm>
          <a:prstGeom prst="ellipse">
            <a:avLst/>
          </a:prstGeom>
          <a:solidFill>
            <a:srgbClr val="232323"/>
          </a:solidFill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40080" y="23317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CERBERUS SYSTEM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3246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F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Structures–Driven Approach to Tracking Academic Citations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977640"/>
            <a:ext cx="6217920" cy="18288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58368" y="4251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Bandla Vinay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4251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2520030437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46360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Sashank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0" y="4636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2520030454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50200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Ganesh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50200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2520030252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5623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 ·  Team 20  ·  DSA-3 (25CS2103E)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59253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S. Madhavi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480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6035040" cy="1005840"/>
          </a:xfrm>
          <a:prstGeom prst="roundRect">
            <a:avLst>
              <a:gd name="adj" fmla="val 7273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6112" y="1856232"/>
            <a:ext cx="146304" cy="146304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188720" y="172821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Systematic Tracking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07568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relationships are scattered across manual notes and siloed databases — no unified structure connects them.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6035040" cy="1005840"/>
          </a:xfrm>
          <a:prstGeom prst="roundRect">
            <a:avLst>
              <a:gd name="adj" fmla="val 7273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96112" y="3090672"/>
            <a:ext cx="146304" cy="146304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1188720" y="296265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Influential Work Gets Missed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31012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way to measure impact, genuinely important papers can go unnoticed amid the noise.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6035040" cy="1005840"/>
          </a:xfrm>
          <a:prstGeom prst="roundRect">
            <a:avLst>
              <a:gd name="adj" fmla="val 7273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96112" y="4325112"/>
            <a:ext cx="146304" cy="146304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188720" y="419709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Flow Analysis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544568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way to quantify how strongly one author's work influences another's, or trace citation chains between research clusters.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40880" y="1600200"/>
            <a:ext cx="4526280" cy="4617720"/>
          </a:xfrm>
          <a:prstGeom prst="roundRect">
            <a:avLst>
              <a:gd name="adj" fmla="val 1616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040880" y="178308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A TANGLED WEB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flipV="1">
            <a:off x="7680960" y="2377440"/>
            <a:ext cx="1097280" cy="18288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778240" y="2377440"/>
            <a:ext cx="1097280" cy="27432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V="1">
            <a:off x="9875520" y="2286000"/>
            <a:ext cx="1005840" cy="36576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7498080" y="2560320"/>
            <a:ext cx="182880" cy="100584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778240" y="2377440"/>
            <a:ext cx="274320" cy="137160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875520" y="2651760"/>
            <a:ext cx="457200" cy="91440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332720" y="2286000"/>
            <a:ext cx="548640" cy="128016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498080" y="3566160"/>
            <a:ext cx="1554480" cy="18288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V="1">
            <a:off x="9052560" y="3566160"/>
            <a:ext cx="1280160" cy="18288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498080" y="3566160"/>
            <a:ext cx="640080" cy="109728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052560" y="3749040"/>
            <a:ext cx="548640" cy="100584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332720" y="3566160"/>
            <a:ext cx="548640" cy="91440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138160" y="4663440"/>
            <a:ext cx="1463040" cy="9144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V="1">
            <a:off x="9601200" y="4480560"/>
            <a:ext cx="1280160" cy="27432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138160" y="4663440"/>
            <a:ext cx="640080" cy="82296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 flipV="1">
            <a:off x="8778240" y="4754880"/>
            <a:ext cx="822960" cy="73152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601200" y="4754880"/>
            <a:ext cx="548640" cy="82296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flipV="1">
            <a:off x="10149840" y="4480560"/>
            <a:ext cx="731520" cy="109728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7680960" y="2560320"/>
            <a:ext cx="1371600" cy="118872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778240" y="2377440"/>
            <a:ext cx="1554480" cy="118872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 flipV="1">
            <a:off x="7498080" y="2651760"/>
            <a:ext cx="2377440" cy="91440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 flipV="1">
            <a:off x="8138160" y="2286000"/>
            <a:ext cx="2743200" cy="237744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7580376" y="2459736"/>
            <a:ext cx="201168" cy="201168"/>
          </a:xfrm>
          <a:prstGeom prst="ellipse">
            <a:avLst/>
          </a:prstGeom>
          <a:solidFill>
            <a:srgbClr val="4A4A4A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677656" y="2276856"/>
            <a:ext cx="201168" cy="201168"/>
          </a:xfrm>
          <a:prstGeom prst="ellipse">
            <a:avLst/>
          </a:prstGeom>
          <a:solidFill>
            <a:srgbClr val="4A4A4A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9774936" y="2551176"/>
            <a:ext cx="201168" cy="201168"/>
          </a:xfrm>
          <a:prstGeom prst="ellipse">
            <a:avLst/>
          </a:prstGeom>
          <a:solidFill>
            <a:srgbClr val="4A4A4A"/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780776" y="2185416"/>
            <a:ext cx="201168" cy="201168"/>
          </a:xfrm>
          <a:prstGeom prst="ellipse">
            <a:avLst/>
          </a:prstGeom>
          <a:solidFill>
            <a:srgbClr val="4A4A4A"/>
          </a:soli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7397496" y="3465576"/>
            <a:ext cx="201168" cy="201168"/>
          </a:xfrm>
          <a:prstGeom prst="ellipse">
            <a:avLst/>
          </a:prstGeom>
          <a:solidFill>
            <a:srgbClr val="4A4A4A"/>
          </a:solidFill>
          <a:ln/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8951976" y="3648456"/>
            <a:ext cx="201168" cy="201168"/>
          </a:xfrm>
          <a:prstGeom prst="ellipse">
            <a:avLst/>
          </a:prstGeom>
          <a:solidFill>
            <a:srgbClr val="4A4A4A"/>
          </a:solidFill>
          <a:ln/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0232136" y="3465576"/>
            <a:ext cx="201168" cy="201168"/>
          </a:xfrm>
          <a:prstGeom prst="ellipse">
            <a:avLst/>
          </a:prstGeom>
          <a:solidFill>
            <a:srgbClr val="4A4A4A"/>
          </a:solidFill>
          <a:ln/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8037576" y="4562856"/>
            <a:ext cx="201168" cy="201168"/>
          </a:xfrm>
          <a:prstGeom prst="ellipse">
            <a:avLst/>
          </a:prstGeom>
          <a:solidFill>
            <a:srgbClr val="4A4A4A"/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9500616" y="4654296"/>
            <a:ext cx="201168" cy="201168"/>
          </a:xfrm>
          <a:prstGeom prst="ellipse">
            <a:avLst/>
          </a:prstGeom>
          <a:solidFill>
            <a:srgbClr val="4A4A4A"/>
          </a:solidFill>
          <a:ln/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10780776" y="4379976"/>
            <a:ext cx="201168" cy="201168"/>
          </a:xfrm>
          <a:prstGeom prst="ellipse">
            <a:avLst/>
          </a:prstGeom>
          <a:solidFill>
            <a:srgbClr val="4A4A4A"/>
          </a:soli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8677656" y="5385816"/>
            <a:ext cx="201168" cy="201168"/>
          </a:xfrm>
          <a:prstGeom prst="ellipse">
            <a:avLst/>
          </a:prstGeom>
          <a:solidFill>
            <a:srgbClr val="4A4A4A"/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10049256" y="5477256"/>
            <a:ext cx="201168" cy="201168"/>
          </a:xfrm>
          <a:prstGeom prst="ellipse">
            <a:avLst/>
          </a:prstGeom>
          <a:solidFill>
            <a:srgbClr val="4A4A4A"/>
          </a:solidFill>
          <a:ln/>
        </p:spPr>
        <p:txBody>
          <a:bodyPr/>
          <a:p/>
        </p:txBody>
      </p:sp>
      <p:sp>
        <p:nvSpPr>
          <p:cNvPr id="53" name="Text 51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CERBERUS SYSTEM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480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Approach: Model It As A Graph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paper becomes a </a:t>
            </a:r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citation becomes a 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edge</a:t>
            </a:r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pointing from the citing paper to the cited one.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34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framed this way, decades of graph theory — traversal, ranking, and flow analysis — become directly applicable to a real academic problem.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3886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453128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44531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cites B”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4453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Edge (A → B)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5020056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502005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cited paper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50200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in-degree vertex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5257800" cy="4663440"/>
          </a:xfrm>
          <a:prstGeom prst="roundRect">
            <a:avLst>
              <a:gd name="adj" fmla="val 1569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309360" y="17373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CITATION GRAPH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flipV="1">
            <a:off x="7885586" y="2788741"/>
            <a:ext cx="870909" cy="777597"/>
          </a:xfrm>
          <a:prstGeom prst="line">
            <a:avLst/>
          </a:prstGeom>
          <a:noFill/>
          <a:ln w="25400">
            <a:solidFill>
              <a:srgbClr val="FF6A1A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65746" y="2788741"/>
            <a:ext cx="870909" cy="777597"/>
          </a:xfrm>
          <a:prstGeom prst="line">
            <a:avLst/>
          </a:prstGeom>
          <a:noFill/>
          <a:ln w="25400">
            <a:solidFill>
              <a:srgbClr val="FF6A1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789020" y="4001180"/>
            <a:ext cx="332520" cy="775880"/>
          </a:xfrm>
          <a:prstGeom prst="line">
            <a:avLst/>
          </a:prstGeom>
          <a:noFill/>
          <a:ln w="25400">
            <a:solidFill>
              <a:srgbClr val="FF6A1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V="1">
            <a:off x="8461033" y="3896316"/>
            <a:ext cx="1548814" cy="985609"/>
          </a:xfrm>
          <a:prstGeom prst="line">
            <a:avLst/>
          </a:prstGeom>
          <a:noFill/>
          <a:ln w="25400">
            <a:solidFill>
              <a:srgbClr val="FF6A1A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9800700" y="4001180"/>
            <a:ext cx="332520" cy="775880"/>
          </a:xfrm>
          <a:prstGeom prst="line">
            <a:avLst/>
          </a:prstGeom>
          <a:noFill/>
          <a:ln w="25400">
            <a:solidFill>
              <a:srgbClr val="FF6A1A"/>
            </a:solidFill>
            <a:prstDash val="solid"/>
            <a:head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686800" y="2331720"/>
            <a:ext cx="548640" cy="548640"/>
          </a:xfrm>
          <a:prstGeom prst="ellipse">
            <a:avLst/>
          </a:prstGeom>
          <a:solidFill>
            <a:srgbClr val="3A3A3A"/>
          </a:solidFill>
          <a:ln w="19050">
            <a:solidFill>
              <a:srgbClr val="FF6A1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868680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06640" y="3474720"/>
            <a:ext cx="548640" cy="548640"/>
          </a:xfrm>
          <a:prstGeom prst="ellipse">
            <a:avLst/>
          </a:prstGeom>
          <a:solidFill>
            <a:srgbClr val="3A3A3A"/>
          </a:solidFill>
          <a:ln w="19050">
            <a:solidFill>
              <a:srgbClr val="FF6A1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74066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966960" y="3474720"/>
            <a:ext cx="548640" cy="548640"/>
          </a:xfrm>
          <a:prstGeom prst="ellipse">
            <a:avLst/>
          </a:prstGeom>
          <a:solidFill>
            <a:srgbClr val="3A3A3A"/>
          </a:solidFill>
          <a:ln w="19050">
            <a:solidFill>
              <a:srgbClr val="FF6A1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996696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55280" y="4754880"/>
            <a:ext cx="548640" cy="548640"/>
          </a:xfrm>
          <a:prstGeom prst="ellipse">
            <a:avLst/>
          </a:prstGeom>
          <a:solidFill>
            <a:srgbClr val="3A3A3A"/>
          </a:solidFill>
          <a:ln w="19050">
            <a:solidFill>
              <a:srgbClr val="FF6A1A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795528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418320" y="4754880"/>
            <a:ext cx="548640" cy="548640"/>
          </a:xfrm>
          <a:prstGeom prst="ellipse">
            <a:avLst/>
          </a:prstGeom>
          <a:solidFill>
            <a:srgbClr val="3A3A3A"/>
          </a:solidFill>
          <a:ln w="19050">
            <a:solidFill>
              <a:srgbClr val="FF6A1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941832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CERBERUS SYSTEM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480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645920" y="1600200"/>
            <a:ext cx="8869680" cy="1097280"/>
          </a:xfrm>
          <a:prstGeom prst="roundRect">
            <a:avLst>
              <a:gd name="adj" fmla="val 6667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920240" y="172821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 INTERFACE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11226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terminal application — add papers, search, traverse, analyze flow, view reports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2697480"/>
            <a:ext cx="9144" cy="320040"/>
          </a:xfrm>
          <a:prstGeom prst="line">
            <a:avLst/>
          </a:prstGeom>
          <a:noFill/>
          <a:ln w="25400">
            <a:solidFill>
              <a:srgbClr val="FF6A1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645920" y="3017520"/>
            <a:ext cx="8869680" cy="1097280"/>
          </a:xfrm>
          <a:prstGeom prst="roundRect">
            <a:avLst>
              <a:gd name="adj" fmla="val 6667"/>
            </a:avLst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920240" y="314553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ENGINE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352958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2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Graph, Hash Table, KMP / Rabin-Karp, Wagner-Fischer, Max-Flow, Merge Sort — all hand-built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4114800"/>
            <a:ext cx="9144" cy="320040"/>
          </a:xfrm>
          <a:prstGeom prst="line">
            <a:avLst/>
          </a:prstGeom>
          <a:noFill/>
          <a:ln w="25400">
            <a:solidFill>
              <a:srgbClr val="FF6A1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645920" y="4434840"/>
            <a:ext cx="8869680" cy="1097280"/>
          </a:xfrm>
          <a:prstGeom prst="roundRect">
            <a:avLst>
              <a:gd name="adj" fmla="val 6667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920240" y="4562856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LAYER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4946904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read/write via java.io — loads and saves the graph's state between runs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CERBERUS SYSTEM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480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Data Structures &amp; Algorithms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8013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Graph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Adjacency-list representation supporting BFS &amp; DFS traversal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617720" y="1828800"/>
            <a:ext cx="457200" cy="457200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617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30368" y="18013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Hash Table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addressing with tombstones — O(1) average paper lookup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600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366760" y="1828800"/>
            <a:ext cx="457200" cy="457200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3667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979408" y="18013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KMP &amp; Rabin-Karp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468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substring search for titles and authors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033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" y="3931920"/>
            <a:ext cx="457200" cy="457200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686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39044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Wagner-Fischer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4572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Edit-distance fuzzy search — tolerates typos in queries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89120" y="37033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617720" y="3931920"/>
            <a:ext cx="457200" cy="457200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46177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230368" y="39044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Edmonds-Karp Max-Flow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4572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citation “influence flow” between authors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38160" y="37033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366760" y="3931920"/>
            <a:ext cx="457200" cy="457200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836676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979408" y="39044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Sort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366760" y="45720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O(n log n) ranking by citation count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CERBERUS SYSTEM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480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7432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412748" y="2487168"/>
            <a:ext cx="512064" cy="512064"/>
          </a:xfrm>
          <a:prstGeom prst="ellipse">
            <a:avLst/>
          </a:prstGeom>
          <a:solidFill>
            <a:srgbClr val="FF6A1A"/>
          </a:solidFill>
          <a:ln w="38100">
            <a:solidFill>
              <a:srgbClr val="14141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41274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06324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Paper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5204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title, author, year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51760" y="3520440"/>
            <a:ext cx="320040" cy="914"/>
          </a:xfrm>
          <a:prstGeom prst="line">
            <a:avLst/>
          </a:prstGeom>
          <a:noFill/>
          <a:ln w="25400">
            <a:solidFill>
              <a:srgbClr val="FF6A1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971800" y="27432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98748" y="2487168"/>
            <a:ext cx="512064" cy="512064"/>
          </a:xfrm>
          <a:prstGeom prst="ellipse">
            <a:avLst/>
          </a:prstGeom>
          <a:solidFill>
            <a:srgbClr val="FF6A1A"/>
          </a:solidFill>
          <a:ln w="38100">
            <a:solidFill>
              <a:srgbClr val="14141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69874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081528" y="306324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Citation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081528" y="35204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Paper A → Paper 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0" y="3520440"/>
            <a:ext cx="320040" cy="914"/>
          </a:xfrm>
          <a:prstGeom prst="line">
            <a:avLst/>
          </a:prstGeom>
          <a:noFill/>
          <a:ln w="25400">
            <a:solidFill>
              <a:srgbClr val="FF6A1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257800" y="27432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984748" y="2487168"/>
            <a:ext cx="512064" cy="512064"/>
          </a:xfrm>
          <a:prstGeom prst="ellipse">
            <a:avLst/>
          </a:prstGeom>
          <a:solidFill>
            <a:srgbClr val="FF6A1A"/>
          </a:solidFill>
          <a:ln w="38100">
            <a:solidFill>
              <a:srgbClr val="14141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98474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367528" y="306324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67528" y="35204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or fuzzy title/author lookup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23760" y="3520440"/>
            <a:ext cx="320040" cy="914"/>
          </a:xfrm>
          <a:prstGeom prst="line">
            <a:avLst/>
          </a:prstGeom>
          <a:noFill/>
          <a:ln w="25400">
            <a:solidFill>
              <a:srgbClr val="FF6A1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543800" y="27432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270748" y="2487168"/>
            <a:ext cx="512064" cy="512064"/>
          </a:xfrm>
          <a:prstGeom prst="ellipse">
            <a:avLst/>
          </a:prstGeom>
          <a:solidFill>
            <a:srgbClr val="FF6A1A"/>
          </a:solidFill>
          <a:ln w="38100">
            <a:solidFill>
              <a:srgbClr val="14141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827074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653528" y="306324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653528" y="35204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Traverse, rank, or measure flow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509760" y="3520440"/>
            <a:ext cx="320040" cy="914"/>
          </a:xfrm>
          <a:prstGeom prst="line">
            <a:avLst/>
          </a:prstGeom>
          <a:noFill/>
          <a:ln w="25400">
            <a:solidFill>
              <a:srgbClr val="FF6A1A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829800" y="27432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556748" y="2487168"/>
            <a:ext cx="512064" cy="512064"/>
          </a:xfrm>
          <a:prstGeom prst="ellipse">
            <a:avLst/>
          </a:prstGeom>
          <a:solidFill>
            <a:srgbClr val="FF6A1A"/>
          </a:solidFill>
          <a:ln w="38100">
            <a:solidFill>
              <a:srgbClr val="141414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10556748" y="24871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9939528" y="306324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939528" y="35204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trends &amp; top influencers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CERBERUS SYSTEM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480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Constraints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core structure is hand-built — no shortcuts from Java's standard collections.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" y="26060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5661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java.util imports across the entire codebase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389120" y="26060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35661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hand-built data structures &amp; algorithms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2860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138160" y="26060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35661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dependencies — no Maven, no Gradle, no libraries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java.io and java.lang are used from the standard library — pure Java, pure DSA.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CERBERUS SYSTEM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48056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&amp; Results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" y="17373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300+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389120" y="17373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606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algorithms verified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520440" cy="1737360"/>
          </a:xfrm>
          <a:prstGeom prst="roundRect">
            <a:avLst>
              <a:gd name="adj" fmla="val 5263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138160" y="17373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800+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606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fuzz-test cases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Approach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02336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every module, plus independent fuzz-testing against brute-force reference implementations for the highest-risk algorithms — KMP's LPS array, hash table collision handling, and max-flow correctness.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3611880"/>
            <a:ext cx="5257800" cy="2194560"/>
          </a:xfrm>
          <a:prstGeom prst="roundRect">
            <a:avLst>
              <a:gd name="adj" fmla="val 3333"/>
            </a:avLst>
          </a:prstGeom>
          <a:solidFill>
            <a:srgbClr val="23232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537960" y="3840480"/>
            <a:ext cx="128016" cy="128016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812280" y="372160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&amp; disconnected graphs handled correctly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37960" y="4325112"/>
            <a:ext cx="128016" cy="128016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812280" y="42062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 resize/rehash verified under load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37960" y="4809744"/>
            <a:ext cx="128016" cy="128016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812280" y="46908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graphs terminate cleanly (no infinite loops)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37960" y="5294376"/>
            <a:ext cx="128016" cy="128016"/>
          </a:xfrm>
          <a:prstGeom prst="ellipse">
            <a:avLst/>
          </a:prstGeom>
          <a:solidFill>
            <a:srgbClr val="FF6A1A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812280" y="517550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java.util imports — confirmed project-wide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CERBERUS SYSTEM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14400" y="640080"/>
            <a:ext cx="1097280" cy="27432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332720" y="1005840"/>
            <a:ext cx="1005840" cy="64008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5760720"/>
            <a:ext cx="10424160" cy="91440"/>
          </a:xfrm>
          <a:prstGeom prst="line">
            <a:avLst/>
          </a:prstGeom>
          <a:noFill/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95528" y="795528"/>
            <a:ext cx="237744" cy="237744"/>
          </a:xfrm>
          <a:prstGeom prst="ellipse">
            <a:avLst/>
          </a:prstGeom>
          <a:solidFill>
            <a:srgbClr val="232323"/>
          </a:solidFill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892808" y="521208"/>
            <a:ext cx="237744" cy="237744"/>
          </a:xfrm>
          <a:prstGeom prst="ellipse">
            <a:avLst/>
          </a:prstGeom>
          <a:solidFill>
            <a:srgbClr val="232323"/>
          </a:solidFill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213848" y="886968"/>
            <a:ext cx="237744" cy="237744"/>
          </a:xfrm>
          <a:prstGeom prst="ellipse">
            <a:avLst/>
          </a:prstGeom>
          <a:solidFill>
            <a:srgbClr val="232323"/>
          </a:solidFill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219688" y="1527048"/>
            <a:ext cx="237744" cy="237744"/>
          </a:xfrm>
          <a:prstGeom prst="ellipse">
            <a:avLst/>
          </a:prstGeom>
          <a:solidFill>
            <a:srgbClr val="232323"/>
          </a:solidFill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2648" y="5641848"/>
            <a:ext cx="237744" cy="237744"/>
          </a:xfrm>
          <a:prstGeom prst="ellipse">
            <a:avLst/>
          </a:prstGeom>
          <a:solidFill>
            <a:srgbClr val="232323"/>
          </a:solidFill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036808" y="5733288"/>
            <a:ext cx="237744" cy="237744"/>
          </a:xfrm>
          <a:prstGeom prst="ellipse">
            <a:avLst/>
          </a:prstGeom>
          <a:solidFill>
            <a:srgbClr val="232323"/>
          </a:solidFill>
          <a:ln w="19050">
            <a:solidFill>
              <a:srgbClr val="3A3A3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6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Bandla Vinay · Sai Sashank · Ganesh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630936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 ·  Team 20  ·  DSA-3 (25CS2103E)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2026-09-11T03:12:16Z</dcterms:created>
  <dcterms:modified xsi:type="dcterms:W3CDTF">2026-09-11T03:12:16Z</dcterms:modified>
</cp:coreProperties>
</file>